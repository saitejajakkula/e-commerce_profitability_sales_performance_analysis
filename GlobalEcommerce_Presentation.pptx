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Sports</c:v>
                </c:pt>
                <c:pt idx="1">
                  <c:v>Clothing</c:v>
                </c:pt>
                <c:pt idx="2">
                  <c:v>Beauty</c:v>
                </c:pt>
                <c:pt idx="3">
                  <c:v>Electronics</c:v>
                </c:pt>
                <c:pt idx="4">
                  <c:v>Home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1165</c:v>
                </c:pt>
                <c:pt idx="1">
                  <c:v>1162</c:v>
                </c:pt>
                <c:pt idx="2">
                  <c:v>1119</c:v>
                </c:pt>
                <c:pt idx="3">
                  <c:v>1091</c:v>
                </c:pt>
                <c:pt idx="4">
                  <c:v>1036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5-411A-9371-56672BE0967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Sports</c:v>
                </c:pt>
                <c:pt idx="1">
                  <c:v>Clothing</c:v>
                </c:pt>
                <c:pt idx="2">
                  <c:v>Beauty</c:v>
                </c:pt>
                <c:pt idx="3">
                  <c:v>Electronics</c:v>
                </c:pt>
                <c:pt idx="4">
                  <c:v>Home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214</c:v>
                </c:pt>
                <c:pt idx="1">
                  <c:v>208</c:v>
                </c:pt>
                <c:pt idx="2">
                  <c:v>199</c:v>
                </c:pt>
                <c:pt idx="3">
                  <c:v>188</c:v>
                </c:pt>
                <c:pt idx="4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85-411A-9371-56672BE0967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Profit Share by Region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Profit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D11-4F93-BF05-DB2C371505F0}"/>
              </c:ext>
            </c:extLst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D11-4F93-BF05-DB2C371505F0}"/>
              </c:ext>
            </c:extLst>
          </c:dPt>
          <c:dPt>
            <c:idx val="2"/>
            <c:bubble3D val="0"/>
            <c:spPr>
              <a:solidFill>
                <a:srgbClr val="2563E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D11-4F93-BF05-DB2C371505F0}"/>
              </c:ext>
            </c:extLst>
          </c:dPt>
          <c:dPt>
            <c:idx val="3"/>
            <c:bubble3D val="0"/>
            <c:spPr>
              <a:solidFill>
                <a:srgbClr val="1A3A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D11-4F93-BF05-DB2C371505F0}"/>
              </c:ext>
            </c:extLst>
          </c:dPt>
          <c:dPt>
            <c:idx val="4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D11-4F93-BF05-DB2C371505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D11-4F93-BF05-DB2C371505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D11-4F93-BF05-DB2C371505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D11-4F93-BF05-DB2C371505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D11-4F93-BF05-DB2C371505F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D11-4F93-BF05-DB2C371505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Europe</c:v>
                </c:pt>
                <c:pt idx="1">
                  <c:v>MEA</c:v>
                </c:pt>
                <c:pt idx="2">
                  <c:v>N. America</c:v>
                </c:pt>
                <c:pt idx="3">
                  <c:v>S. America</c:v>
                </c:pt>
                <c:pt idx="4">
                  <c:v>Asia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216</c:v>
                </c:pt>
                <c:pt idx="1">
                  <c:v>199</c:v>
                </c:pt>
                <c:pt idx="2">
                  <c:v>198</c:v>
                </c:pt>
                <c:pt idx="3">
                  <c:v>197</c:v>
                </c:pt>
                <c:pt idx="4">
                  <c:v>183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D11-4F93-BF05-DB2C371505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Revenue vs. Marketing Spend ($K)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5572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9E-4E4D-A570-67CB2047EA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Mktg Spend ($K)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</c:f>
              <c:strCache>
                <c:ptCount val="1"/>
                <c:pt idx="0">
                  <c:v>Total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49E-4E4D-A570-67CB2047EA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865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0" y="0"/>
            <a:ext cx="2743200" cy="3291840"/>
          </a:xfrm>
          <a:prstGeom prst="rect">
            <a:avLst/>
          </a:prstGeom>
          <a:solidFill>
            <a:srgbClr val="112266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365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365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365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18120" y="365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0" y="365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41080" y="36576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1812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41080" y="77724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0" y="1188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188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0" y="1188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818120" y="1188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1188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41080" y="118872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6002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6002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6002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18120" y="16002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0" y="16002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41080" y="1600200"/>
            <a:ext cx="73152" cy="73152"/>
          </a:xfrm>
          <a:prstGeom prst="ellipse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914400"/>
            <a:ext cx="2560320" cy="2926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BUSINESS INTELLIGENCE REPORT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1325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E-Commerce</a:t>
            </a:r>
            <a:endParaRPr lang="en-US" sz="4400" dirty="0"/>
          </a:p>
        </p:txBody>
      </p:sp>
      <p:sp>
        <p:nvSpPr>
          <p:cNvPr id="33" name="Text 31"/>
          <p:cNvSpPr/>
          <p:nvPr/>
        </p:nvSpPr>
        <p:spPr>
          <a:xfrm>
            <a:off x="777240" y="2084832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 &amp; Sales</a:t>
            </a:r>
            <a:endParaRPr lang="en-US" sz="3000" dirty="0"/>
          </a:p>
          <a:p>
            <a:pPr marL="0" indent="0">
              <a:buNone/>
            </a:pPr>
            <a:r>
              <a:rPr lang="en-US" sz="3000" dirty="0">
                <a:solidFill>
                  <a:srgbClr val="B0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3000" dirty="0"/>
          </a:p>
        </p:txBody>
      </p:sp>
      <p:sp>
        <p:nvSpPr>
          <p:cNvPr id="34" name="Shape 32"/>
          <p:cNvSpPr/>
          <p:nvPr/>
        </p:nvSpPr>
        <p:spPr>
          <a:xfrm>
            <a:off x="777240" y="3337560"/>
            <a:ext cx="1874520" cy="777240"/>
          </a:xfrm>
          <a:prstGeom prst="rect">
            <a:avLst/>
          </a:prstGeom>
          <a:solidFill>
            <a:srgbClr val="1A3A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77240" y="33649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$5.57M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7724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CEE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34640" y="3337560"/>
            <a:ext cx="1874520" cy="777240"/>
          </a:xfrm>
          <a:prstGeom prst="rect">
            <a:avLst/>
          </a:prstGeom>
          <a:solidFill>
            <a:srgbClr val="1A3A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834640" y="33649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$993K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283464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CEE"/>
                </a:solidFill>
              </a:rPr>
              <a:t>Net Profit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92040" y="3337560"/>
            <a:ext cx="1874520" cy="777240"/>
          </a:xfrm>
          <a:prstGeom prst="rect">
            <a:avLst/>
          </a:prstGeom>
          <a:solidFill>
            <a:srgbClr val="1A3A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92040" y="33649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17.8%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489204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CEE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49440" y="3337560"/>
            <a:ext cx="1874520" cy="777240"/>
          </a:xfrm>
          <a:prstGeom prst="rect">
            <a:avLst/>
          </a:prstGeom>
          <a:solidFill>
            <a:srgbClr val="1A3A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949440" y="336499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</a:rPr>
              <a:t>8.03×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949440" y="37490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BCEE"/>
                </a:solidFill>
              </a:rPr>
              <a:t>Marketing ROI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4251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AAA"/>
                </a:solidFill>
              </a:rPr>
              <a:t>Based on 5,000-Order Dataset  │  Multi-Region  │  Multi-Channel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023360" cy="3931920"/>
          </a:xfrm>
          <a:prstGeom prst="rect">
            <a:avLst/>
          </a:prstGeom>
          <a:solidFill>
            <a:srgbClr val="F0F4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91440" cy="3931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BUSINESS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5661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This analysis covers global e-commerce operations across: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5 Regions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5 Product Categories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3 Sales Channels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• 5,000 Transactions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The business generated $5.57M in total revenue with a net profit of $993K — a profit margin of 17.8%.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</a:rPr>
              <a:t>While top-line performance is strong, profitability is being constrained by aggressive discount strategies, channel cost structures, and regional operational inefficiencies.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1463040"/>
          </a:xfrm>
          <a:prstGeom prst="rect">
            <a:avLst/>
          </a:prstGeom>
          <a:solidFill>
            <a:srgbClr val="0D1B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9601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KEY TAKEAWAY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21615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</a:rPr>
              <a:t>"Revenue is healthy, but margin improvement requires strategic action on discounting, category management, and regional cost optimization."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2514600"/>
            <a:ext cx="1325880" cy="228600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2514600"/>
            <a:ext cx="1325880" cy="10972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670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Aggressive Discounting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09160" y="3145536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13.5% avg discount causing measurable margin leakage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1325880" cy="228600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514600"/>
            <a:ext cx="1325880" cy="10972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670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Channel Inefficiency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3145536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Online margin (15.3%) lags Retail (19.7%) significantly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589520" y="2514600"/>
            <a:ext cx="1325880" cy="228600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89520" y="2514600"/>
            <a:ext cx="132588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635240" y="267004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Regional Variance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3145536"/>
            <a:ext cx="1234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Asia underperforms Europe by ~15% in profit despite comparable revenue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210312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1051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</a:rPr>
              <a:t>5,000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0208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Full dataset analyzed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86868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68680"/>
            <a:ext cx="21031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423160" y="1051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$5.57M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2316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Total Revenue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23160" y="20208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Strong top-line globally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17720" y="86868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868680"/>
            <a:ext cx="210312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1051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</a:rPr>
              <a:t>$993K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Net Profit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20208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≈ $1M generated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12280" y="86868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868680"/>
            <a:ext cx="2103120" cy="914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1" name="Text 19"/>
          <p:cNvSpPr/>
          <p:nvPr/>
        </p:nvSpPr>
        <p:spPr>
          <a:xfrm>
            <a:off x="6812280" y="105156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3A8F"/>
                </a:solidFill>
              </a:rPr>
              <a:t>17.8%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812280" y="17647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Profit Margin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02082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$17.80 per $100 revenue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77240" y="283464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2834640"/>
            <a:ext cx="21031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017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</a:rPr>
              <a:t>$1,114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77240" y="3730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Avg Order Value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39867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High purchase intent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71800" y="283464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71800" y="2834640"/>
            <a:ext cx="2103120" cy="91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ext 29"/>
          <p:cNvSpPr/>
          <p:nvPr/>
        </p:nvSpPr>
        <p:spPr>
          <a:xfrm>
            <a:off x="2971800" y="3017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A580C"/>
                </a:solidFill>
              </a:rPr>
              <a:t>13.5%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2971800" y="3730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Avg Discount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71800" y="39867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Potential margin erosion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6360" y="2834640"/>
            <a:ext cx="21031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166360" y="2834640"/>
            <a:ext cx="210312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166360" y="3017520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</a:rPr>
              <a:t>8.03×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5166360" y="373075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40"/>
                </a:solidFill>
              </a:rPr>
              <a:t>Marketing ROI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3986784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</a:rPr>
              <a:t>$8.03 per $1 spend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PRODUCT CATEGORY PERFORMANCE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22960"/>
            <a:ext cx="3063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06440" y="822960"/>
            <a:ext cx="82296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4"/>
          <p:cNvSpPr/>
          <p:nvPr/>
        </p:nvSpPr>
        <p:spPr>
          <a:xfrm>
            <a:off x="5989320" y="868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Sports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89320" y="117043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Rev: $1.16M  |  Margin: 18.4%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138160" y="987552"/>
            <a:ext cx="64008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8138160" y="98755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LEADER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806440" y="1627632"/>
            <a:ext cx="3063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806440" y="1627632"/>
            <a:ext cx="82296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0"/>
          <p:cNvSpPr/>
          <p:nvPr/>
        </p:nvSpPr>
        <p:spPr>
          <a:xfrm>
            <a:off x="5989320" y="167335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Clothing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89320" y="1975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Rev: $1.16M  |  Margin: 17.9%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8138160" y="1792224"/>
            <a:ext cx="64008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17922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LEADER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806440" y="2432304"/>
            <a:ext cx="3063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06440" y="2432304"/>
            <a:ext cx="82296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5989320" y="24780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Beauty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89320" y="27797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Rev: $1.12M  |  Margin: 17.8%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138160" y="2596896"/>
            <a:ext cx="64008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8138160" y="259689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STABLE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806440" y="3236976"/>
            <a:ext cx="3063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06440" y="3236976"/>
            <a:ext cx="82296" cy="7132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2"/>
          <p:cNvSpPr/>
          <p:nvPr/>
        </p:nvSpPr>
        <p:spPr>
          <a:xfrm>
            <a:off x="5989320" y="328269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Electronics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989320" y="3584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Rev: $1.09M  |  Margin: 17.3%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8138160" y="3401568"/>
            <a:ext cx="640080" cy="2560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8" name="Text 25"/>
          <p:cNvSpPr/>
          <p:nvPr/>
        </p:nvSpPr>
        <p:spPr>
          <a:xfrm>
            <a:off x="8138160" y="34015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LAGGING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806440" y="4041648"/>
            <a:ext cx="3063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806440" y="4041648"/>
            <a:ext cx="82296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5989320" y="4087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Home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989320" y="43891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Rev: $1.04M  |  Margin: 17.7%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8138160" y="4206240"/>
            <a:ext cx="640080" cy="2560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8138160" y="42062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REVIEW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REGIONAL PERFORMANCE ANALYSIS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4114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663440" y="822960"/>
            <a:ext cx="4206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663440" y="822960"/>
            <a:ext cx="82296" cy="7132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868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🌍 Europe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46320" y="118872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$1.16M  |  Profit: $216K  |  Share: 21.8%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772400" y="1024128"/>
            <a:ext cx="1005840" cy="25603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0" y="10241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TOP PERFORMER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4663440" y="1627632"/>
            <a:ext cx="4206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627632"/>
            <a:ext cx="82296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4846320" y="16733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🌍 MEA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846320" y="199339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$1.10M  |  Profit: $199K  |  Share: 20.0%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7772400" y="1828800"/>
            <a:ext cx="100584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0" y="18288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STRONG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4663440" y="2432304"/>
            <a:ext cx="4206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2432304"/>
            <a:ext cx="82296" cy="7132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4780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🌎 N. America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46320" y="279806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$1.10M  |  Profit: $198K  |  Share: 19.9%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772400" y="2633472"/>
            <a:ext cx="1005840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0" y="2633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STABLE</a:t>
            </a:r>
            <a:endParaRPr lang="en-US" sz="700" dirty="0"/>
          </a:p>
        </p:txBody>
      </p:sp>
      <p:sp>
        <p:nvSpPr>
          <p:cNvPr id="23" name="Shape 20"/>
          <p:cNvSpPr/>
          <p:nvPr/>
        </p:nvSpPr>
        <p:spPr>
          <a:xfrm>
            <a:off x="4663440" y="3236976"/>
            <a:ext cx="4206240" cy="713232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663440" y="3236976"/>
            <a:ext cx="82296" cy="713232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5" name="Text 22"/>
          <p:cNvSpPr/>
          <p:nvPr/>
        </p:nvSpPr>
        <p:spPr>
          <a:xfrm>
            <a:off x="4846320" y="3282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🌎 S. America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46320" y="360273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$1.14M  |  Profit: $197K  |  Share: 19.9%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772400" y="3438144"/>
            <a:ext cx="1005840" cy="256032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8" name="Text 25"/>
          <p:cNvSpPr/>
          <p:nvPr/>
        </p:nvSpPr>
        <p:spPr>
          <a:xfrm>
            <a:off x="7772400" y="34381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STABLE</a:t>
            </a:r>
            <a:endParaRPr lang="en-US" sz="700" dirty="0"/>
          </a:p>
        </p:txBody>
      </p:sp>
      <p:sp>
        <p:nvSpPr>
          <p:cNvPr id="29" name="Shape 26"/>
          <p:cNvSpPr/>
          <p:nvPr/>
        </p:nvSpPr>
        <p:spPr>
          <a:xfrm>
            <a:off x="4663440" y="4041648"/>
            <a:ext cx="4206240" cy="713232"/>
          </a:xfrm>
          <a:prstGeom prst="rect">
            <a:avLst/>
          </a:prstGeom>
          <a:solidFill>
            <a:srgbClr val="FFF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663440" y="4041648"/>
            <a:ext cx="82296" cy="7132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4087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0"/>
                </a:solidFill>
              </a:rPr>
              <a:t>🌏 Asia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46320" y="440740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Rev: $1.07M  |  Profit: $183K  |  Share: 18.5%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772400" y="4242816"/>
            <a:ext cx="10058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0" y="424281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UNDERPERFORMING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SALES CHANNEL PERFORMANCE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88920" cy="411480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278892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MARKETPLACE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563EB"/>
                </a:solidFill>
              </a:rPr>
              <a:t>18.4%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23160"/>
            <a:ext cx="2514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24505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</a:rPr>
              <a:t>Revenue: $1.90M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974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</a:rPr>
              <a:t>Profit: $350K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063240"/>
            <a:ext cx="2514600" cy="320040"/>
          </a:xfrm>
          <a:prstGeom prst="rect">
            <a:avLst/>
          </a:prstGeom>
          <a:solidFill>
            <a:srgbClr val="2563E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1148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</a:rPr>
              <a:t>#1 Revenue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352044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Efficient — scale with discipline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788920" cy="411480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822960"/>
            <a:ext cx="278892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822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RETAIL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46120" y="14173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6A34A"/>
                </a:solidFill>
              </a:rPr>
              <a:t>19.7%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246120" y="208483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2423160"/>
            <a:ext cx="2514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24505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</a:rPr>
              <a:t>Revenue: $1.83M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6974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</a:rPr>
              <a:t>Profit: $361K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3063240"/>
            <a:ext cx="2514600" cy="320040"/>
          </a:xfrm>
          <a:prstGeom prst="rect">
            <a:avLst/>
          </a:prstGeom>
          <a:solidFill>
            <a:srgbClr val="16A34A">
              <a:alpha val="2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A34A"/>
                </a:solidFill>
              </a:rPr>
              <a:t>Margin Leader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352044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Best margin — prioritize expansion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822960"/>
            <a:ext cx="2788920" cy="4114800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822960"/>
            <a:ext cx="278892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8229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ONLINE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141732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</a:rPr>
              <a:t>15.3%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6217920" y="2084832"/>
            <a:ext cx="2788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Profit Margin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355080" y="2423160"/>
            <a:ext cx="2514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450592"/>
            <a:ext cx="2514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</a:rPr>
              <a:t>Revenue: $1.84M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55080" y="2697480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40"/>
                </a:solidFill>
              </a:rPr>
              <a:t>Profit: $282K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3063240"/>
            <a:ext cx="2514600" cy="320040"/>
          </a:xfrm>
          <a:prstGeom prst="rect">
            <a:avLst/>
          </a:prstGeom>
          <a:solidFill>
            <a:srgbClr val="DC2626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355080" y="30632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C2626"/>
                </a:solidFill>
              </a:rPr>
              <a:t>Cost Concern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520440"/>
            <a:ext cx="2606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</a:rPr>
              <a:t>High CAC — audit cost structure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DISCOUNT STRATEGY &amp; MARGIN IMPACT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572000" cy="384048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Discount Band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737360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Margin Profile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8229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4572000" cy="54864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261872"/>
            <a:ext cx="73152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1261872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A34A"/>
                </a:solidFill>
              </a:rPr>
              <a:t>0–10%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1261872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</a:rPr>
              <a:t>Healthy margins sustained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1389888"/>
            <a:ext cx="1417320" cy="2743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3898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LOW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883664"/>
            <a:ext cx="457200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1883664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1883664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10–20%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188366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</a:rPr>
              <a:t>Moderate compression observed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37560" y="2011680"/>
            <a:ext cx="141732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0116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MEDIUM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4572000" cy="54864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2505456"/>
            <a:ext cx="73152" cy="5486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2505456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A580C"/>
                </a:solidFill>
              </a:rPr>
              <a:t>20–30%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37360" y="2505456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</a:rPr>
              <a:t>Significant margin erosion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37560" y="2633472"/>
            <a:ext cx="1417320" cy="2743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2633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HIGH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127248"/>
            <a:ext cx="4572000" cy="548640"/>
          </a:xfrm>
          <a:prstGeom prst="rect">
            <a:avLst/>
          </a:prstGeom>
          <a:solidFill>
            <a:srgbClr val="FFF1F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127248"/>
            <a:ext cx="73152" cy="548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127248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2626"/>
                </a:solidFill>
              </a:rPr>
              <a:t>&gt;30%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37360" y="3127248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40"/>
                </a:solidFill>
              </a:rPr>
              <a:t>Negative profit outcomes likely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3255264"/>
            <a:ext cx="14173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3337560" y="32552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CRITICAL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749040"/>
            <a:ext cx="4572000" cy="77724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74904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59E0B"/>
                </a:solidFill>
              </a:rPr>
              <a:t>⚠  One order at 30% discount resulted in a net loss of $355. Blanket discounting appears to be the most significant controllable driver of margin deterioration.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74920" y="822960"/>
            <a:ext cx="3794760" cy="3977640"/>
          </a:xfrm>
          <a:prstGeom prst="rect">
            <a:avLst/>
          </a:prstGeom>
          <a:solidFill>
            <a:srgbClr val="E8EDF5"/>
          </a:solidFill>
          <a:ln/>
        </p:spPr>
      </p:sp>
      <p:sp>
        <p:nvSpPr>
          <p:cNvPr id="35" name="Shape 33"/>
          <p:cNvSpPr/>
          <p:nvPr/>
        </p:nvSpPr>
        <p:spPr>
          <a:xfrm>
            <a:off x="5074920" y="822960"/>
            <a:ext cx="3794760" cy="3657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82296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ROOT CAUSE: WHY PROFIT IS LOWER THAN EXPECTED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166360" y="1417320"/>
            <a:ext cx="347472" cy="34747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1417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96128" y="1362456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High Discounts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96128" y="161848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Too many discounts erode margin — the #1 root cause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166360" y="2075688"/>
            <a:ext cx="347472" cy="34747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2" name="Text 40"/>
          <p:cNvSpPr/>
          <p:nvPr/>
        </p:nvSpPr>
        <p:spPr>
          <a:xfrm>
            <a:off x="516636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96128" y="2020824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Costly Online Channel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96128" y="2276856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Ads + fees + returns eat into profits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166360" y="2734056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5166360" y="2734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596128" y="2679192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Asia Region Issues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96128" y="2935224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Higher logistics + more discounts = same revenue, less profit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166360" y="3392424"/>
            <a:ext cx="347472" cy="347472"/>
          </a:xfrm>
          <a:prstGeom prst="ellipse">
            <a:avLst/>
          </a:prstGeom>
          <a:solidFill>
            <a:srgbClr val="1A3A8F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596128" y="3337560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Low-Margin Products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96128" y="359359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Electronics &amp; Home cost more to sell per unit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166360" y="4050792"/>
            <a:ext cx="347472" cy="3474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4" name="Text 52"/>
          <p:cNvSpPr/>
          <p:nvPr/>
        </p:nvSpPr>
        <p:spPr>
          <a:xfrm>
            <a:off x="5166360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596128" y="3995928"/>
            <a:ext cx="3154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Unoptimized Budget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596128" y="4251960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4748B"/>
                </a:solidFill>
              </a:rPr>
              <a:t>Marketing not focused on highest-profit areas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MARKETING SPEND EFFICIENCY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657600" cy="3977640"/>
          </a:xfrm>
          <a:prstGeom prst="rect">
            <a:avLst/>
          </a:prstGeom>
          <a:solidFill>
            <a:srgbClr val="0D1B4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9E0B"/>
                </a:solidFill>
              </a:rPr>
              <a:t>8.03×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7432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Marketing ROI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3063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AACC"/>
                </a:solidFill>
              </a:rPr>
              <a:t>$8.03 revenue generated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i="1" dirty="0">
                <a:solidFill>
                  <a:srgbClr val="90AACC"/>
                </a:solidFill>
              </a:rPr>
              <a:t>for every $1 spent on marketing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274320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947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HIGHLY EFFICIENT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MARKETING ENGINE</a:t>
            </a:r>
            <a:endParaRPr lang="en-US" sz="110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4114800" y="777240"/>
          <a:ext cx="47548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8"/>
          <p:cNvSpPr/>
          <p:nvPr/>
        </p:nvSpPr>
        <p:spPr>
          <a:xfrm>
            <a:off x="4114800" y="3657600"/>
            <a:ext cx="4754880" cy="1143000"/>
          </a:xfrm>
          <a:prstGeom prst="rect">
            <a:avLst/>
          </a:prstGeom>
          <a:solidFill>
            <a:srgbClr val="FFF8E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14800" y="3657600"/>
            <a:ext cx="91440" cy="11430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4315968" y="3749040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</a:rPr>
              <a:t>Opportunity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315968" y="4041648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Aggregate ROI masks variance across channels and regions. Selective reallocation toward Retail, Europe, Sports &amp; Clothing could amplify returns significantly.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ROOT CAUSE ANALYSIS — WHY IS PROFIT UNDERPERFORMING?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383280" y="2148840"/>
            <a:ext cx="2377440" cy="822960"/>
          </a:xfrm>
          <a:prstGeom prst="rect">
            <a:avLst/>
          </a:prstGeom>
          <a:solidFill>
            <a:srgbClr val="DC2626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0" y="21488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PROFIT BELOW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POTENTIAL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2560320"/>
            <a:ext cx="320040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77724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777240"/>
            <a:ext cx="9144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822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DISCOUNTING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1247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Avg 13.5% discount across all 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&gt;20% bands produce near-zero margin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0" y="1280160"/>
            <a:ext cx="640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0116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011680"/>
            <a:ext cx="91440" cy="10058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A580C"/>
                </a:solidFill>
              </a:rPr>
              <a:t>CHANNEL COSTS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" y="235915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Online: 15.3% vs Retail 19.7%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High CAC + digital overhead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0" y="2514600"/>
            <a:ext cx="640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24612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82880" y="3246120"/>
            <a:ext cx="9144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" y="3291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PRODUCT MIX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35935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Electronics &amp; Home margin 17.3–17.7%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Vs Sports 18.4% — structural cost issue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0" y="3749040"/>
            <a:ext cx="640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60720" y="2560320"/>
            <a:ext cx="292608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77724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0" y="777240"/>
            <a:ext cx="91440" cy="10058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822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8F"/>
                </a:solidFill>
              </a:rPr>
              <a:t>REGIONAL VARIANCE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65392" y="112471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Asia underperforms Europe by ~15% in profit despite comparable 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Higher logistics + discount pressure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60720" y="1280160"/>
            <a:ext cx="640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201168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2011680"/>
            <a:ext cx="914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20574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MARKETING ALLOCATION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65392" y="235915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8.03× overall ROI masks regional variance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Spend not optimized for high-margin segments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760720" y="2514600"/>
            <a:ext cx="640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3246120"/>
            <a:ext cx="256032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0" y="3246120"/>
            <a:ext cx="9144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565392" y="32918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PRICING STRATEGY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65392" y="3593592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Revenue-first approach vs margin-first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No dynamic pricing or threshold controls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60720" y="3749040"/>
            <a:ext cx="64008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0" y="4480560"/>
            <a:ext cx="6400800" cy="50292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9" name="Text 37"/>
          <p:cNvSpPr/>
          <p:nvPr/>
        </p:nvSpPr>
        <p:spPr>
          <a:xfrm>
            <a:off x="1371600" y="4480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ROOT FINDING: Company is prioritizing revenue growth over cost control and margin protection — all 6 factors are actionable.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51960" cy="1298448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4251960" cy="914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Shape 4"/>
          <p:cNvSpPr/>
          <p:nvPr/>
        </p:nvSpPr>
        <p:spPr>
          <a:xfrm>
            <a:off x="338328" y="1005840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024128"/>
            <a:ext cx="86868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URGENT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22960" y="9509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Precision Discount Management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38328" y="148132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C2626"/>
                </a:solidFill>
              </a:rPr>
              <a:t>Impact: Immediate margin improvement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38328" y="17007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Cap discounts &gt;20% to premium customers only. Introduce dynamic pricing with minimum margin thresholds.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09160" y="822960"/>
            <a:ext cx="4251960" cy="1298448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822960"/>
            <a:ext cx="4251960" cy="914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Shape 13"/>
          <p:cNvSpPr/>
          <p:nvPr/>
        </p:nvSpPr>
        <p:spPr>
          <a:xfrm>
            <a:off x="4818888" y="100584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955280" y="1024128"/>
            <a:ext cx="868680" cy="256032"/>
          </a:xfrm>
          <a:prstGeom prst="rect">
            <a:avLst/>
          </a:prstGeom>
          <a:solidFill>
            <a:srgbClr val="16A34A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10241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03520" y="950976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Invest in High-Margin Categories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18888" y="1481328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6A34A"/>
                </a:solidFill>
              </a:rPr>
              <a:t>Impact: Higher blended profitability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818888" y="17007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Increase inventory &amp; marketing for Sports and Clothing — the company's most reliable profit engines.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267712"/>
            <a:ext cx="4251960" cy="1298448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267712"/>
            <a:ext cx="4251960" cy="914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24" name="Shape 22"/>
          <p:cNvSpPr/>
          <p:nvPr/>
        </p:nvSpPr>
        <p:spPr>
          <a:xfrm>
            <a:off x="338328" y="2450592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0" y="2468880"/>
            <a:ext cx="868680" cy="256032"/>
          </a:xfrm>
          <a:prstGeom prst="rect">
            <a:avLst/>
          </a:prstGeom>
          <a:solidFill>
            <a:srgbClr val="EA580C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468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822960" y="2395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Electronics &amp; Home Category Review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A580C"/>
                </a:solidFill>
              </a:rPr>
              <a:t>Impact: +1–2% margin improvement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8328" y="31455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Renegotiate supplier/logistics contracts. Rationalize discount exposure across these SKUs.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2267712"/>
            <a:ext cx="4251960" cy="1298448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2267712"/>
            <a:ext cx="4251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Shape 31"/>
          <p:cNvSpPr/>
          <p:nvPr/>
        </p:nvSpPr>
        <p:spPr>
          <a:xfrm>
            <a:off x="4818888" y="2450592"/>
            <a:ext cx="384048" cy="38404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818888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55280" y="2468880"/>
            <a:ext cx="868680" cy="256032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955280" y="24688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303520" y="2395728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Strengthen Retail Channel Strategy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18888" y="2926080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9488"/>
                </a:solidFill>
              </a:rPr>
              <a:t>Impact: Shift revenue mix to higher margin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818888" y="31455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Expand retail partnerships. Migrate high-value customers from online to direct channels.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712464"/>
            <a:ext cx="4251960" cy="1298448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28600" y="3712464"/>
            <a:ext cx="4251960" cy="91440"/>
          </a:xfrm>
          <a:prstGeom prst="rect">
            <a:avLst/>
          </a:prstGeom>
          <a:solidFill>
            <a:srgbClr val="1A3A8F"/>
          </a:solidFill>
          <a:ln/>
        </p:spPr>
      </p:sp>
      <p:sp>
        <p:nvSpPr>
          <p:cNvPr id="42" name="Shape 40"/>
          <p:cNvSpPr/>
          <p:nvPr/>
        </p:nvSpPr>
        <p:spPr>
          <a:xfrm>
            <a:off x="338328" y="3895344"/>
            <a:ext cx="384048" cy="384048"/>
          </a:xfrm>
          <a:prstGeom prst="ellipse">
            <a:avLst/>
          </a:prstGeom>
          <a:solidFill>
            <a:srgbClr val="1A3A8F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474720" y="3913632"/>
            <a:ext cx="868680" cy="256032"/>
          </a:xfrm>
          <a:prstGeom prst="rect">
            <a:avLst/>
          </a:prstGeom>
          <a:solidFill>
            <a:srgbClr val="1A3A8F">
              <a:alpha val="8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0" y="3913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822960" y="38404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Address Asia-Pacific Underperformance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38328" y="43708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8F"/>
                </a:solidFill>
              </a:rPr>
              <a:t>Impact: Narrow the profit gap vs. Europe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38328" y="4590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Commission dedicated regional cost audit. Apply tighter discount controls in the region.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709160" y="3712464"/>
            <a:ext cx="4251960" cy="1298448"/>
          </a:xfrm>
          <a:prstGeom prst="rect">
            <a:avLst/>
          </a:prstGeom>
          <a:solidFill>
            <a:srgbClr val="E8E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3712464"/>
            <a:ext cx="4251960" cy="91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1" name="Shape 49"/>
          <p:cNvSpPr/>
          <p:nvPr/>
        </p:nvSpPr>
        <p:spPr>
          <a:xfrm>
            <a:off x="4818888" y="3895344"/>
            <a:ext cx="384048" cy="38404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2" name="Text 50"/>
          <p:cNvSpPr/>
          <p:nvPr/>
        </p:nvSpPr>
        <p:spPr>
          <a:xfrm>
            <a:off x="4818888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955280" y="3913632"/>
            <a:ext cx="868680" cy="256032"/>
          </a:xfrm>
          <a:prstGeom prst="rect">
            <a:avLst/>
          </a:prstGeom>
          <a:solidFill>
            <a:srgbClr val="2563EB">
              <a:alpha val="80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7955280" y="39136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303520" y="38404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40"/>
                </a:solidFill>
              </a:rPr>
              <a:t>Optimize Marketing Budget Allocation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18888" y="4370832"/>
            <a:ext cx="3977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563EB"/>
                </a:solidFill>
              </a:rPr>
              <a:t>Impact: Higher blended marketing ROI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18888" y="45902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Implement channel/region-level attribution. Reallocate toward Retail, Europe, Sports &amp; Clothing.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BUSINESS DECISION MATRIX — WHERE TO ACT FIRST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1965960"/>
          </a:xfrm>
          <a:prstGeom prst="rect">
            <a:avLst/>
          </a:prstGeom>
          <a:solidFill>
            <a:srgbClr val="ECFD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63440" y="777240"/>
            <a:ext cx="4206240" cy="1965960"/>
          </a:xfrm>
          <a:prstGeom prst="rect">
            <a:avLst/>
          </a:prstGeom>
          <a:solidFill>
            <a:srgbClr val="FFF7E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2926080"/>
            <a:ext cx="3931920" cy="2011680"/>
          </a:xfrm>
          <a:prstGeom prst="rect">
            <a:avLst/>
          </a:prstGeom>
          <a:solidFill>
            <a:srgbClr val="F0F9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2926080"/>
            <a:ext cx="4206240" cy="2011680"/>
          </a:xfrm>
          <a:prstGeom prst="rect">
            <a:avLst/>
          </a:prstGeom>
          <a:solidFill>
            <a:srgbClr val="FFF1F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49560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LOW EFFORT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495604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HIGH EFFORT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" y="100584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</a:rPr>
              <a:t>HIGH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720" y="3154680"/>
            <a:ext cx="228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</a:rPr>
              <a:t>LOW</a:t>
            </a:r>
            <a:endParaRPr lang="en-US" sz="800" dirty="0"/>
          </a:p>
          <a:p>
            <a:pPr marL="0" indent="0">
              <a:buNone/>
            </a:pPr>
            <a:r>
              <a:rPr lang="en-US" sz="800" b="1" dirty="0">
                <a:solidFill>
                  <a:srgbClr val="EA580C"/>
                </a:solidFill>
              </a:rPr>
              <a:t>IMPACT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777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  DO FIRST — Quick Wins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118872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Cap discounts &gt;20% immediately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Reallocate marketing budget to Sports &amp; Clothing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Migrate high-value customers to Retail channel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777240"/>
            <a:ext cx="4206240" cy="3474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7772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PLAN — Strategic Investments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118872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Expand retail channel distribution partnerships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Commission Asia-Pacific operational audit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Implement dynamic pricing with margin floors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26080"/>
            <a:ext cx="393192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  DELEGATE — Operational Fixes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" y="333756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Review and rationalize Electronics &amp; Home SKUs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Implement channel-level attribution reporting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Renegotiate logistics contracts in Asia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206240" cy="3474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29260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✕  DEFER — Deprioritize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33756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Expanding into new geographies without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  fixing current regional cost structure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• Launching new product categories while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D1B40"/>
                </a:solidFill>
              </a:rPr>
              <a:t>  existing portfolio underperforms on margin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535"/>
          </a:solidFill>
          <a:ln/>
        </p:spPr>
      </p:sp>
      <p:sp>
        <p:nvSpPr>
          <p:cNvPr id="5" name="Shape 3"/>
          <p:cNvSpPr/>
          <p:nvPr/>
        </p:nvSpPr>
        <p:spPr>
          <a:xfrm>
            <a:off x="6309360" y="45720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0" y="45720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45720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0" y="45720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2801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2801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2801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128016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031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0" y="21031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1031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55280" y="210312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292608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292608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292608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955280" y="292608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74904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0" y="374904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374904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55280" y="3749040"/>
            <a:ext cx="91440" cy="9144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502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</a:rPr>
              <a:t>CONCLUSION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8229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the Margin.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68680" y="205740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F0"/>
                </a:solidFill>
              </a:rPr>
              <a:t>The company has built a strong, scalable global revenue base. With $5.57M revenue, $993K profit, and an 8× marketing ROI — the fundamentals are solid.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0C4F0"/>
                </a:solidFill>
              </a:rPr>
              <a:t>The primary opportunity is not revenue acceleration, but margin protection. Three structural factors are limiting profitability below potential: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3310128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331012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Aggressive discounting practices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" y="3657600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36576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Online channel cost inefficiencies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8680" y="4005072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188720" y="400507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Regional operational variance in Asia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005840"/>
            <a:ext cx="2743200" cy="2926080"/>
          </a:xfrm>
          <a:prstGeom prst="rect">
            <a:avLst/>
          </a:prstGeom>
          <a:solidFill>
            <a:srgbClr val="1A3A8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26480" y="11430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THE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BOTTOM LINE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18288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AACC"/>
                </a:solidFill>
              </a:rPr>
              <a:t>Execute the 6 strategic recommendations to: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36208" y="237744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/>
          <p:nvPr/>
        </p:nvSpPr>
        <p:spPr>
          <a:xfrm>
            <a:off x="6455664" y="23500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Improve profit margin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36208" y="2688336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0" name="Text 38"/>
          <p:cNvSpPr/>
          <p:nvPr/>
        </p:nvSpPr>
        <p:spPr>
          <a:xfrm>
            <a:off x="6455664" y="2660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Strengthen top categories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36208" y="2999232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/>
          <p:nvPr/>
        </p:nvSpPr>
        <p:spPr>
          <a:xfrm>
            <a:off x="6455664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Optimize channel mix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36208" y="3310128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4" name="Text 42"/>
          <p:cNvSpPr/>
          <p:nvPr/>
        </p:nvSpPr>
        <p:spPr>
          <a:xfrm>
            <a:off x="6455664" y="328269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Fix Asia underperformance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36208" y="3621024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6" name="Text 44"/>
          <p:cNvSpPr/>
          <p:nvPr/>
        </p:nvSpPr>
        <p:spPr>
          <a:xfrm>
            <a:off x="6455664" y="35935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Maximize marketing ROI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77240" y="4509875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Assumption: </a:t>
            </a:r>
            <a:r>
              <a:rPr lang="en-US" sz="800" dirty="0">
                <a:solidFill>
                  <a:srgbClr val="7A9ACC"/>
                </a:solidFill>
              </a:rPr>
              <a:t>Insights are based on aggregated transactional data; customer-level behavior and external market factors are not included.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68680" y="4919472"/>
            <a:ext cx="8046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05580"/>
                </a:solidFill>
              </a:rPr>
              <a:t>BUSINESS INTELLIGENCE DIVISION  |  Based on 5,000-order dataset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1193</Words>
  <Application>Microsoft Office PowerPoint</Application>
  <PresentationFormat>On-screen Show (16:9)</PresentationFormat>
  <Paragraphs>266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E-Commerce Profitability &amp; Sales Performance Analysis</dc:title>
  <dc:subject>PptxGenJS Presentation</dc:subject>
  <dc:creator>PptxGenJS</dc:creator>
  <cp:lastModifiedBy>Srividya JAKKULA</cp:lastModifiedBy>
  <cp:revision>2</cp:revision>
  <dcterms:created xsi:type="dcterms:W3CDTF">2026-05-02T19:10:35Z</dcterms:created>
  <dcterms:modified xsi:type="dcterms:W3CDTF">2026-05-02T19:15:22Z</dcterms:modified>
</cp:coreProperties>
</file>